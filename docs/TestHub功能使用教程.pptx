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>
      <p:commonViewPr>
        <p:scale sx="100" sy="100"/>
        <p:origin x="0" y="0"/>
      </p:commonViewPr>
    </p:cSldViewPr>
  </p:slideViewPr>
  <p:notesTextViewPr>
    <p:cViewPr varScale="1">
      <p:scale sx="100" sy="100"/>
      <p:origin x="0" y="0"/>
    </p:cViewPr>
  </p:notesTextViewPr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  <Relationship Id="rId24" Type="http://schemas.openxmlformats.org/officeDocument/2006/relationships/slide" Target="slides/slide23.xml"/>
  <Relationship Id="rId25" Type="http://schemas.openxmlformats.org/officeDocument/2006/relationships/slide" Target="slides/slide24.xml"/>
  <Relationship Id="rId26" Type="http://schemas.openxmlformats.org/officeDocument/2006/relationships/slide" Target="slides/slide25.xml"/>
  <Relationship Id="rId27" Type="http://schemas.openxmlformats.org/officeDocument/2006/relationships/slide" Target="slides/slide26.xml"/>
  <Relationship Id="rId28" Type="http://schemas.openxmlformats.org/officeDocument/2006/relationships/slide" Target="slides/slide27.xml"/>
  <Relationship Id="rId29" Type="http://schemas.openxmlformats.org/officeDocument/2006/relationships/slide" Target="slides/slide28.xml"/>
  <Relationship Id="rId30" Type="http://schemas.openxmlformats.org/officeDocument/2006/relationships/slide" Target="slides/slide29.xml"/>
  <Relationship Id="rId31" Type="http://schemas.openxmlformats.org/officeDocument/2006/relationships/slide" Target="slides/slide30.xml"/>
  <Relationship Id="rId32" Type="http://schemas.openxmlformats.org/officeDocument/2006/relationships/slide" Target="slides/slide31.xml"/>
  <Relationship Id="rId33" Type="http://schemas.openxmlformats.org/officeDocument/2006/relationships/slide" Target="slides/slide32.xml"/>
  <Relationship Id="rId34" Type="http://schemas.openxmlformats.org/officeDocument/2006/relationships/slide" Target="slides/slide33.xml"/>
  <Relationship Id="rId35" Type="http://schemas.openxmlformats.org/officeDocument/2006/relationships/slide" Target="slides/slide34.xml"/>
  <Relationship Id="rId36" Type="http://schemas.openxmlformats.org/officeDocument/2006/relationships/presProps" Target="presProps.xml"/>
  <Relationship Id="rId37" Type="http://schemas.openxmlformats.org/officeDocument/2006/relationships/viewProps" Target="viewProps.xml"/>
  <Relationship Id="rId3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estHub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pn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6.pn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7.png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8.pn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9.png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0.png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1.png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2.pn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3.png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731520" y="1097280"/>
            <a:ext cx="3749039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600" dirty="0" b="1">
                <a:solidFill>
                  <a:srgbClr val="1F2A44"/>
                </a:solidFill>
                <a:latin typeface="Microsoft YaHei"/>
                <a:ea typeface="Microsoft YaHei"/>
                <a:cs typeface="Microsoft YaHei"/>
              </a:rPr>
              <a:t>TestHub 功能使用教程</a:t>
            </a:r>
            <a:endParaRPr lang="zh-CN" sz="2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Cover Subtitle"/>
          <p:cNvSpPr txBox="1"/>
          <p:nvPr/>
        </p:nvSpPr>
        <p:spPr>
          <a:xfrm>
            <a:off x="822960" y="219456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280" dirty="0">
                <a:solidFill>
                  <a:srgbClr val="4A607C"/>
                </a:solidFill>
                <a:latin typeface="Microsoft YaHei"/>
                <a:ea typeface="Microsoft YaHei"/>
                <a:cs typeface="Microsoft YaHei"/>
              </a:rPr>
              <a:t>基于本地部署环境整理，覆盖 AI 用例生成、API 测试、UI 自动化、AI 智能模式、数据工厂、配置中心与 APP 自动化</a:t>
            </a:r>
            <a:endParaRPr lang="zh-CN" sz="128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080" dirty="0">
                <a:solidFill>
                  <a:srgbClr val="6B778C"/>
                </a:solidFill>
                <a:latin typeface="Microsoft YaHei"/>
                <a:ea typeface="Microsoft YaHei"/>
                <a:cs typeface="Microsoft YaHei"/>
              </a:rPr>
              <a:t>版本基于本地部署环境整理，截图来源于 2026-04-20 当前实例。</a:t>
            </a:r>
            <a:endParaRPr lang="zh-CN" sz="108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Cover Badge"/>
          <p:cNvSpPr txBox="0"/>
          <p:nvPr/>
        </p:nvSpPr>
        <p:spPr>
          <a:xfrm>
            <a:off x="822960" y="548640"/>
            <a:ext cx="2011680" cy="411480"/>
          </a:xfrm>
          <a:prstGeom prst="roundRect">
            <a:avLst/>
          </a:prstGeom>
          <a:solidFill>
            <a:srgbClr val="D9E7FF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TestHub 本地部署版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" name="Cover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554480"/>
            <a:ext cx="6437376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使用前准备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登录入口与基础检查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访问地址：前端 `http://localhost:3000`，首次进入先确认后端接口已可用。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默认账号：`admin / Admin123`，登录成功后会进入首页。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做 AI 用例生成前，建议先去配置中心补齐 AI 模型、Prompt 与生成策略。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做 UI / AI / APP 自动化前，建议确认浏览器、设备、通知与环境配置。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如果某页面是空状态，这是因为当前演示环境没有业务数据，不影响功能路径理解。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页面入口：/login / /configuration/ai-model / /configuration/ui-env / /configuration/app-env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首页与导航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从首页快速进入各功能域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首页 8 张卡片对应平台的核心功能域：AI 用例生成、API 测试、UI 自动化、数据工厂、APP 自动化、AI 智能模式、AI 评测师、配置中心。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常见使用顺序：先建项目，再准备资源（需求 / 接口 / 元素 / 用例），然后执行，最后看报告。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多数业务页面会出现左侧菜单；同一模块内建议从上到下按“资源准备 -&gt; 执行 -&gt; 报告”顺序使用。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右上角可以切换语言、查看当前登录用户和账户下拉菜单。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遇到功能入口可点但页面提示未配置时，先回到配置中心完成前置项。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页面入口：/home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AI需求分析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把需求描述或文档转成测试用例任务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AI用例生成`。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支持两种输入：手工填写需求标题/描述，或上传 PDF、Word、TXT、Markdown 文档。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输出模式可选“实时流式输出”或“完整输出”；前者更适合长文档，后者更适合短需求。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如果首次进入弹出“开始使用 AI 用例生成功能”的检查框，点击“去配置”先补齐模型、提示词和生成策略。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提交后会生成一个后台任务，后续到“AI 生成用例记录”页面追踪状态。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页面入口：/ai-generation/requirement-analysis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AI生成用例记录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查看 AI 任务状态与结果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AI生成用例记录`。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可按状态筛选任务：需求分析中、用例编写中、用例评审中、已完成、失败。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点“刷新”获取最新状态，适合查看长时间运行的 AI 任务。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已完成的任务可继续回流到项目、测试用例、评审和执行页面做人工整理。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失败任务通常优先回查模型配置、Prompt 设置和原始需求内容是否完整。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页面入口：/ai-generation/generated-testcases / /ai-generation/task-detail/:taskId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项目管理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统一承载需求、用例、版本与执行数据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项目管理`。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点击“新建项目”创建测试项目，建议补齐项目名、描述、状态与负责人。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项目是全平台的组织维度，后续版本、测试用例、评审和执行计划都尽量关联项目。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列表页支持按状态筛选，适合区分在研、暂停、归档等项目。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建议先建项目再导入需求或新建测试用例，避免后期大量数据补关联。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页面入口：/ai-generation/projects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测试用例管理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维护人工与 AI 生成的测试用例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测试用例`。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点击“新建用例”进入用例表单，可维护标题、项目、版本、优先级、类型和步骤。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列表页支持项目筛选和优先级筛选，便于按范围整理用例。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点“导出 Excel”可把当前用例数据导出给团队评审或离线归档。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生成的用例建议先在这里做一次人工整理，再进入评审与执行阶段。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页面入口：/ai-generation/testcases / /ai-generation/testcases/create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按版本归集测试范围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版本管理`。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点击“新建版本”创建版本并关联项目，用来沉淀每次发布的测试范围。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版本可以挂接测试用例，便于后续统计某个版本对应的覆盖率与执行情况。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建议把版本命名与实际发布节奏保持一致，例如 `v1.2.0`、`2026Q2`。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如果项目长期维护，优先建立稳定的版本规范，再做批量用例归档。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页面入口：/ai-generation/versions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评审管理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组织测试用例评审流程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评审管理 -&gt; 评审列表`。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点击“新建评审”创建一次评审活动，可按项目、评审人、状态进行筛选。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评审列表适合跟踪评审标题、优先级、用例数量、评审进度和截止时间。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推荐在用例完成初稿后发起评审，避免执行阶段才发现结构性问题。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如果团队多人协作，建议统一用项目 + 截止时间管理评审节奏。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页面入口：/ai-generation/reviews / /ai-generation/reviews/create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评审模板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沉淀可复用的评审规则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评审管理 -&gt; 评审模板`。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点击“创建模板”建立标准化评审清单，例如字段完整性、步骤清晰度、边界覆盖等。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模板适合在同一项目或同一业务线内反复复用，减少评审标准漂移。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建议把常见驳回原因抽象成模板项，提升多轮评审效率。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有了模板之后，再新建评审会更容易保持团队口径一致。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页面入口：/ai-generation/review-templates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测试计划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把用例组织成可执行计划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测试计划`。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点击“新建测试计划”建立一次执行任务，建议关联项目、版本和待执行用例集合。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列表页支持项目和状态过滤，适合区分草稿、执行中、已完成等计划。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测试计划是从“用例资产”到“执行结果”的关键桥梁，建议每次版本发版都创建独立计划。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计划创建后，再进入执行与报告页追踪结果会更清晰。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页面入口：/ai-generation/executions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AI测试报告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从计划结果回看覆盖率和趋势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入口：`AI用例生成 -&gt; 测试报告`。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报告页可按项目和时间范围查看活跃计划、用例总数、通过率、缺陷分布与趋势图。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点击“导出报告”可输出当前统计结果，适合周报、版本复盘和项目汇报。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如果某项目长期数据为空，通常说明计划尚未建立或未关联执行记录。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建议把测试报告作为版本验收和回归结果复盘的最终落点。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页面入口：/ai-generation/reports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API测试仪表盘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先看全局状态，再进入具体页面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入口：`接口测试 -&gt; 数据看板`。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这里集中展示 API 项目数、接口数、测试套件数和执行记录数，适合作为模块总览。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页面下半部会概括接口管理、自动化测试、定时任务和多维报告的能力定位。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新用户建议先从看板认路，再依次进入项目管理、接口管理和自动化测试页面。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如果要给团队演示接口模块，这一页最适合做首页介绍。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页面入口：/api-testing/dashboard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API项目管理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先建接口项目，再挂接口树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入口：`接口测试 -&gt; 项目管理`。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建议按系统、服务或产品线划分 API 项目，例如用户中心、支付中心、运营后台。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接口项目是接口树、环境、自动化测试与报告的共同归属。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创建项目后，再去“接口管理”里建分组和具体请求，会比后补归属更高效。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如果接口很多，项目粒度不要过细，否则后期权限和统计会变碎。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页面入口：/api-testing/projects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接口管理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维护请求定义、参数和断言基础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入口：`接口测试 -&gt; 接口管理`。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在这里维护接口树、请求方法、URL、请求头、参数、Body 与说明。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建议先把常用登录、鉴权、核心业务接口整理出来，再逐步补充长尾接口。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接口定义完善之后，自动化测试页才能更顺畅地复用这些接口。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常见做法是按业务域建目录，再在目录下按接口粒度录入请求。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页面入口：/api-testing/interfaces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API自动化测试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把接口串成可执行场景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入口：`接口测试 -&gt; 自动化测试`。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这里适合把多个接口按顺序编排成测试场景，加入断言、变量提取和前后置步骤。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推荐先在接口管理中维护好单接口，再在这里做跨接口串联和回归场景。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做自动化时优先把登录、公共鉴权和关键业务链路拆成可复用步骤。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编排完成后，结合环境管理和定时任务，就能形成稳定的回归流水线。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页面入口：/api-testing/automation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API环境、历史与定时任务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把单次调试变成可重复回归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相关入口：`环境管理`、`请求历史`、`测试报告`、`定时任务`、`通知列表`。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环境管理先配置 baseURL、变量、鉴权参数；请求历史用于排查单次调用细节。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定时任务适合做每日巡检、冒烟回归和发布后守护；通知列表用于验证消息是否发出。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报告页看成功率与趋势，历史页看单次失败原因，环境页保证不同环境可切换。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推荐顺序：环境 -&gt; 接口 -&gt; 自动化 -&gt; 定时任务 -&gt; 报告 -&gt; 通知复核。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页面入口：/api-testing/environments / /api-testing/history / /api-testing/reports / /api-testing/scheduled-tasks / /api-testing/notification-logs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UI自动化仪表盘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先看页面入口，再补资源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入口：`UI自动化测试 -&gt; 数据看板`。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看板适合快速了解当前项目、元素、脚本、套件、执行记录和报告的整体入口。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新建 UI 自动化前，推荐先准备项目与元素，再进入用例、脚本和执行链路。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如果你的目标是录入已有脚本，直接跳脚本生成或脚本列表也可以。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如果你的目标是从零搭平台，建议按“项目 -&gt; 元素 -&gt; 用例 -&gt; 脚本 -&gt; 套件 -&gt; 执行”走。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页面入口：/ui-automation/dashboard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UI项目与元素管理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先定义项目，再沉淀定位元素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相关入口：`项目管理` 与 `元素管理`。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元素管理是 UI 自动化的基础资产，用来维护页面元素及其定位方式。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元素库准备好之后，脚本生成页可以直接从左侧元素库插入定位代码。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建议按页面或业务模块来组织元素，避免元素名混乱导致脚本难维护。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项目页负责承载资源归属，元素页负责承载复用定位，这两页通常一起使用。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页面入口：/ui-automation/projects / /ui-automation/elements-enhanced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UI测试用例管理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把页面操作整理成可执行用例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入口：`UI自动化测试 -&gt; 用例管理`。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这里适合维护 UI 用例的标题、前置条件、步骤描述和业务归属。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推荐先用人工语言描述清楚场景，再进入脚本生成页做自动化实现。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如果一个页面流程很长，建议拆成多个小用例，再在套件里编排执行顺序。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用例页的目标是沉淀“测试意图”，脚本页的目标是沉淀“自动化实现”。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页面入口：/ui-automation/test-cases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UI脚本生成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从元素库快速拼装自动化脚本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入口：`UI自动化测试 -&gt; 脚本生成`。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左侧是元素库，中间是脚本编辑区，右侧是执行日志；支持选择语言和执行引擎。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推荐做法：先选项目，再从元素库插入关键元素，补足点击、输入、等待和断言逻辑。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生成完成后点击“保存脚本”，再去脚本列表或套件页纳入统一执行。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如果当前元素库为空，先回元素管理页建元素，再回来编排脚本。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页面入口：/ui-automation/scripts-enhanced / /ui-automation/scripts/editor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UI脚本列表、套件与执行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把单脚本提升为稳定回归资产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相关入口：`脚本列表`、`套件管理`、`执行记录`、`测试报告`、`定时任务`、`通知列表`。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脚本列表适合管理单脚本版本；套件页适合把多个脚本按场景串起来执行。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执行记录看单次结果，报告页看整体统计，定时任务负责把回归跑起来，通知页负责把结果送出去。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推荐顺序：脚本保存 -&gt; 组套件 -&gt; 手工执行验证 -&gt; 看报告 -&gt; 上定时任务。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如果要做 nightly 回归，这一组页面要一起配合使用。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页面入口：/ui-automation/scripts / /ui-automation/suites / /ui-automation/executions / /ui-automation/reports / /ui-automation/scheduled-tasks / /ui-automation/notification-logs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AI智能模式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用自然语言直接驱动浏览器执行任务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入口：`AI智能模式 -&gt; AI智能测试`。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适合没有现成脚本、但已经知道测试目标和操作步骤的场景。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页面通常会要求输入任务描述、执行模式和相关参数，然后由 AI 自动规划执行路径。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如果任务涉及钱包、登录、切链或签名，建议把关键步骤和限制条件写进任务文本里。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首次使用前先到配置中心确认 AI 模型、浏览器环境和 AI 模式配置已经就绪。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页面入口：/ai-intelligent-mode/testing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AI智能用例与执行记录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看 AI 任务沉淀与执行结果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相关入口：`AI智能模式 -&gt; AI用例管理` 与 `AI执行记录`。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用例管理用于沉淀自然语言任务模板；执行记录用于回看每次运行的状态、日志和结果。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如果一个自然语言任务已经验证可行，建议沉淀成固定用例，避免每次重写。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执行记录页尤其适合排查 AI 步骤偏航、环境不稳定和登录失败问题。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推荐顺序：先在测试页跑通 -&gt; 再沉淀为 AI 用例 -&gt; 再观察执行记录。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页面入口：/ai-intelligent-mode/cases / /ai-intelligent-mode/execution-records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钱包登录实战：连接钱包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以 SafuSkill 为例发起 MetaMask 登录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0963"/>
            <a:ext cx="6400800" cy="3150393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站点页通常会先出现“Connect a Wallet”弹窗，左侧列出可选钱包。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当前第一版建议优先使用 MetaMask 的 EVM 链流程，路径最稳定。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 AI 任务里要明确写出：连接钱包、切链、签名消息、发送交易确认等期望动作。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如果站点先出现自定义“Connect Wallet”按钮，先点站点按钮，再等待钱包选择器出现。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这一步的目标不是点任何随机钱包，而是精准切到 MetaMask 并进入授权链路。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页面入口：外部站点：SafuSkill 钱包连接弹窗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钱包登录实战：MetaMask 解锁与确认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完成扩展侧解锁、授权和确认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84283"/>
            <a:ext cx="6400800" cy="3363753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 MetaMask 打开解锁页时，先输入钱包密码，再点击登录。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如果后续出现连接、签名、切链或交易确认页，优先点击主确认按钮，不要盲点扩展内部元素。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在当前项目里，AI 智能模式已经为钱包流程补了专门规则：解锁、确认、回站点。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如果站点页空白或半加载，AI 会尝试切回前台标签页恢复，但你仍应在任务描述里写清目标地址。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钱包弹窗处理完成后，再回到原站点验证是否已登录或地址是否已显示。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页面入口：MetaMask 扩展页 / 钱包授权确认页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钱包登录实战：登录结果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回到站点验证钱包已生效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02" y="1371600"/>
            <a:ext cx="3909155" cy="438912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回站点后优先看右上角钱包地址、用户头像、已登录状态或权限入口是否出现。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不要只看弹窗是否关闭，必须以站点状态变化作为最终验收依据。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如果站点要求签名或补充授权，继续跟随站点流程完成最后一步。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建议把“登录成功判定条件”写进 AI 任务描述，例如：右上角出现地址或进入个人首页。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完成一次稳定流程后，可以把它沉淀到 AI 用例管理页作为可复用的钱包登录模板。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页面入口：外部站点：SafuSkill 登录后首页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数据工厂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集中准备测试数据和转换工具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入口：`数据工厂`。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页面按“按工具分类”“按使用场景”“使用历史”组织，可承载数据生成、格式转换和加解密类工具。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适合在做接口测试、UI 自动化、AI 任务时，统一准备手机号、邮箱、JSON、JWT、时间戳等数据。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如果团队经常重复造测试数据，建议先把常用规则沉淀到这里，再在各模块中引用。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这是全平台的共用底座，越早规范，后续自动化越省时间。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页面入口：/data-factory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配置中心：AI生成相关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模型、Prompt 与生成策略要先配好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相关入口：`AI模型配置`、`Prompt配置`、`生成配置`。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模型配置负责填 API Key、Base URL、模型名和角色；Prompt 配置负责定义编写与评审提示词。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生成配置负责决定输出方式、自动评审等生成行为，是 AI 用例生成页的重要前置条件。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 AI 用例生成页提示未配置，通常就是这三页至少有一项缺失。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建议把生产、测试模型分开命名，并保留一套稳定模板做回退。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页面入口：/configuration/ai-model / /configuration/prompt-config / /configuration/generation-config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配置中心：UI / APP 环境与 AI 模式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浏览器、设备和智能模式都从这里起步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相关入口：`UI环境配置`、`APP环境配置`、`AI模式配置`、`通知与任务配置`、`Dify配置`。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UI 环境页适合检查浏览器/驱动/自动化环境；APP 环境页适合检查设备与移动端执行配置。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模式配置用来维护 Browser-use / 浏览器智能执行所需的模型与环境参数。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通知与任务配置页用于统一消息通道；Dify 配置页用于接入外部 AI 助手能力。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如果自动化跑不起来，不要先改脚本，先回配置中心排查环境和服务端配置。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页面入口：/configuration/ui-env / /configuration/app-env / /configuration/ai-mode / /configuration/scheduled-task / /configuration/dify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APP自动化：总览与设备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先看 Dashboard，再确认设备可用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入口：`APP自动化测试 -&gt; Dashboard`。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Dashboard 会展示项目、设备、用例、执行和最近记录，适合快速判断移动端资源是否就绪。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真正开始执行前，优先进入“设备管理”确认模拟器或真机在线状态。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如果没有设备，后续元素采集、场景编排和执行都会被阻断。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建议把设备池和项目绑定关系先规划清楚，再开展 APP 自动化建设。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页面入口：/app-automation/dashboard / /app-automation/devices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APP自动化：场景编排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把组件和步骤组合成可执行移动端流程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入口：`APP自动化测试 -&gt; 用例编排`。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页面上方维护场景名称、所属项目、描述、重试次数等元数据；下方把组件拖入场景步骤区域完成编排。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左侧组件库承载基础组件和自定义组件，中间是场景步骤，右侧是当前步骤配置。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如果需要新元素，可直接点击右侧“创建元素工具”，说明移动端元素与场景是联动设计的。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推荐做法：先建元素，再建基础组件，最后在这里拼装完整业务链路。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页面入口：/app-automation/scene-builder / /app-automation/elements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APP自动化：用例、套件、执行与报告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把单场景提升为可持续回归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相关入口：`测试用例`、`测试套件`、`执行记录`、`测试报告`、`定时任务`、`通知列表`。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测试用例页沉淀单个场景，测试套件页把多个场景串成回归集合，执行记录页回看单次运行明细。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报告页适合看最近执行结果和 Allure 入口，定时任务页负责把 APP 回归定时跑起来。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建议先单用例跑通，再入套件，再上定时任务，最后用通知把结果发到团队。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如果要做夜间巡检，这是 APP 自动化模块的最终落地链路。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页面入口：/app-automation/test-cases / /app-automation/test-suites / /app-automation/executions / /app-automation/reports / /app-automation/scheduled-tasks / /app-automation/notification-logs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11480"/>
            <a:ext cx="7498079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2050" dirty="0" b="1">
                <a:solidFill>
                  <a:srgbClr val="172554"/>
                </a:solidFill>
                <a:latin typeface="Microsoft YaHei"/>
                <a:ea typeface="Microsoft YaHei"/>
                <a:cs typeface="Microsoft YaHei"/>
              </a:rPr>
              <a:t>推荐落地流程</a:t>
            </a:r>
            <a:endParaRPr lang="zh-CN" sz="205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Badge"/>
          <p:cNvSpPr txBox="0"/>
          <p:nvPr/>
        </p:nvSpPr>
        <p:spPr>
          <a:xfrm>
            <a:off x="8458200" y="411480"/>
            <a:ext cx="2926080" cy="438912"/>
          </a:xfrm>
          <a:prstGeom prst="roundRect">
            <a:avLst/>
          </a:prstGeom>
          <a:solidFill>
            <a:srgbClr val="E8EEF9"/>
          </a:solidFill>
          <a:ln>
            <a:noFill/>
          </a:ln>
        </p:spPr>
        <p:txBody>
          <a:bodyPr wrap="square" rtlCol="0" anchor="ctr"/>
          <a:lstStyle/>
          <a:p>
            <a:pPr lvl="0"/>
            <a:r>
              <a:rPr lang="zh-CN" sz="1600" dirty="0" b="1">
                <a:solidFill>
                  <a:srgbClr val="214067"/>
                </a:solidFill>
                <a:latin typeface="Microsoft YaHei"/>
                <a:ea typeface="Microsoft YaHei"/>
                <a:cs typeface="Microsoft YaHei"/>
              </a:rPr>
              <a:t>给新团队的最短上手路径</a:t>
            </a:r>
            <a:endParaRPr lang="zh-CN"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65910"/>
            <a:ext cx="6400800" cy="400050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0" y="1325880"/>
            <a:ext cx="4206240" cy="4480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1 步：先完成配置中心里的 AI、浏览器、设备和通知配置。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2 步：建立项目、版本和基础数据资产（接口、元素、测试数据）。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3 步：根据业务场景选择 AI 用例生成、API 测试、UI 自动化或 APP 自动化开始沉淀资产。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4 步：先手工跑通关键链路，再把它们纳入套件、报告和定时任务。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1140" dirty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 5 步：把稳定的自然语言任务、钱包登录流程和高频回归用例沉淀成模板长期复用。</a:t>
            </a:r>
            <a:endParaRPr lang="zh-CN" sz="114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Footer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lvl="0"/>
            <a:r>
              <a:rPr lang="zh-CN" sz="920" dirty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页面入口：/home</a:t>
            </a:r>
            <a:endParaRPr lang="zh-CN" sz="920" dirty="0">
              <a:latin typeface="Microsoft YaHei"/>
              <a:ea typeface="Microsoft YaHei"/>
              <a:cs typeface="Microsoft YaHei"/>
            </a:endParaRPr>
          </a:p>
          <a:p>
            <a:pPr lvl="0"/>
            <a:r>
              <a:rPr lang="zh-CN" sz="900" dirty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说明：截图取自当前本地环境，实际按钮名称可能随版本微调。</a:t>
            </a:r>
            <a:endParaRPr lang="zh-CN" sz="9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34</Slides>
  <Notes>0</Notes>
  <HiddenSlides>0</HiddenSlides>
  <MMClips>0</MMClips>
  <ScaleCrop>false</ScaleCrop>
  <HeadingPairs>
    <vt:vector size="2" baseType="variant">
      <vt:variant>
        <vt:lpstr>幻灯片标题</vt:lpstr>
      </vt:variant>
      <vt:variant>
        <vt:i4>34</vt:i4>
      </vt:variant>
    </vt:vector>
  </HeadingPairs>
  <TitlesOfParts>
    <vt:vector size="34" baseType="lpstr">
      <vt:lpstr>TestHub 功能使用教程</vt:lpstr>
      <vt:lpstr>使用前准备</vt:lpstr>
      <vt:lpstr>首页与导航</vt:lpstr>
      <vt:lpstr>AI需求分析</vt:lpstr>
      <vt:lpstr>AI生成用例记录</vt:lpstr>
      <vt:lpstr>项目管理</vt:lpstr>
      <vt:lpstr>测试用例管理</vt:lpstr>
      <vt:lpstr>版本管理</vt:lpstr>
      <vt:lpstr>评审管理</vt:lpstr>
      <vt:lpstr>评审模板</vt:lpstr>
      <vt:lpstr>测试计划</vt:lpstr>
      <vt:lpstr>AI测试报告</vt:lpstr>
      <vt:lpstr>API测试仪表盘</vt:lpstr>
      <vt:lpstr>API项目管理</vt:lpstr>
      <vt:lpstr>接口管理</vt:lpstr>
      <vt:lpstr>API自动化测试</vt:lpstr>
      <vt:lpstr>API环境、历史与定时任务</vt:lpstr>
      <vt:lpstr>UI自动化仪表盘</vt:lpstr>
      <vt:lpstr>UI项目与元素管理</vt:lpstr>
      <vt:lpstr>UI测试用例管理</vt:lpstr>
      <vt:lpstr>UI脚本生成</vt:lpstr>
      <vt:lpstr>UI脚本列表、套件与执行</vt:lpstr>
      <vt:lpstr>AI智能模式</vt:lpstr>
      <vt:lpstr>AI智能用例与执行记录</vt:lpstr>
      <vt:lpstr>钱包登录实战：连接钱包</vt:lpstr>
      <vt:lpstr>钱包登录实战：MetaMask 解锁与确认</vt:lpstr>
      <vt:lpstr>钱包登录实战：登录结果</vt:lpstr>
      <vt:lpstr>数据工厂</vt:lpstr>
      <vt:lpstr>配置中心：AI生成相关</vt:lpstr>
      <vt:lpstr>配置中心：UI / APP 环境与 AI 模式</vt:lpstr>
      <vt:lpstr>APP自动化：总览与设备</vt:lpstr>
      <vt:lpstr>APP自动化：场景编排</vt:lpstr>
      <vt:lpstr>APP自动化：用例、套件、执行与报告</vt:lpstr>
      <vt:lpstr>推荐落地流程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TestHub 功能使用教程</dc:title>
  <dc:subject>本地部署使用教程</dc:subject>
  <dc:creator>Codex</dc:creator>
  <cp:keywords>TestHub, 教程, 本地部署, PPT</cp:keywords>
  <dc:description>覆盖 TestHub 主要功能模块的图文教程</dc:description>
  <cp:lastModifiedBy>Codex</cp:lastModifiedBy>
  <dcterms:created xsi:type="dcterms:W3CDTF">2026-04-19T17:01:26Z</dcterms:created>
  <dcterms:modified xsi:type="dcterms:W3CDTF">2026-04-19T17:01:26Z</dcterms:modified>
</cp:coreProperties>
</file>